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Arial Black" panose="020B0A04020102020204" pitchFamily="34" charset="0"/>
      <p:bold r:id="rId14"/>
    </p:embeddedFont>
    <p:embeddedFont>
      <p:font typeface="Roboto" panose="02000000000000000000" pitchFamily="2" charset="0"/>
      <p:regular r:id="rId15"/>
      <p:bold r:id="rId16"/>
      <p:italic r:id="rId17"/>
      <p:boldItalic r:id="rId18"/>
    </p:embeddedFont>
    <p:embeddedFont>
      <p:font typeface="Roboto Light" panose="02000000000000000000" pitchFamily="2" charset="0"/>
      <p:regular r:id="rId19"/>
      <p:italic r:id="rId20"/>
    </p:embeddedFont>
    <p:embeddedFont>
      <p:font typeface="Roboto Medium" panose="02000000000000000000" pitchFamily="2"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9" d="100"/>
          <a:sy n="79" d="100"/>
        </p:scale>
        <p:origin x="1138" y="62"/>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5/04/2026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379941"/>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3784363"/>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02</a:t>
            </a:r>
          </a:p>
        </p:txBody>
      </p:sp>
      <p:sp>
        <p:nvSpPr>
          <p:cNvPr id="5" name="TextBox 4">
            <a:extLst>
              <a:ext uri="{FF2B5EF4-FFF2-40B4-BE49-F238E27FC236}">
                <a16:creationId xmlns:a16="http://schemas.microsoft.com/office/drawing/2014/main" id="{736F57D6-777D-47CD-9A7C-C2F9BFD0AD6D}"/>
              </a:ext>
            </a:extLst>
          </p:cNvPr>
          <p:cNvSpPr txBox="1"/>
          <p:nvPr/>
        </p:nvSpPr>
        <p:spPr>
          <a:xfrm>
            <a:off x="1935585" y="1500958"/>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4" y="390554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2</a:t>
            </a: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500958"/>
            <a:ext cx="7580989" cy="2185671"/>
          </a:xfrm>
          <a:prstGeom prst="rect">
            <a:avLst/>
          </a:prstGeom>
          <a:noFill/>
        </p:spPr>
        <p:txBody>
          <a:bodyPr wrap="square" lIns="0" tIns="0" rIns="0" bIns="0" rtlCol="0" anchor="t">
            <a:noAutofit/>
          </a:bodyPr>
          <a:lstStyle/>
          <a:p>
            <a:r>
              <a:rPr lang="en-US" sz="1400" b="1" dirty="0"/>
              <a:t>Top Segments:</a:t>
            </a:r>
            <a:r>
              <a:rPr lang="en-US" sz="1400" dirty="0"/>
              <a:t> The Mainstream - Young Singles/Couples and Mainstream - </a:t>
            </a:r>
            <a:r>
              <a:rPr lang="en-US" sz="1400" dirty="0" err="1"/>
              <a:t>Midage</a:t>
            </a:r>
            <a:r>
              <a:rPr lang="en-US" sz="1400" dirty="0"/>
              <a:t> Singles/Couples are your most valuable customers.</a:t>
            </a:r>
          </a:p>
          <a:p>
            <a:r>
              <a:rPr lang="en-US" sz="1400" b="1" dirty="0"/>
              <a:t>Key Behavior: </a:t>
            </a:r>
            <a:r>
              <a:rPr lang="en-US" sz="1400" dirty="0"/>
              <a:t>These segments have the highest concentration of "Mainstream" purchasers who buy chips more frequently and are less price-sensitive than "Budget" or "Premium" shoppers in the same </a:t>
            </a:r>
            <a:r>
              <a:rPr lang="en-US" sz="1400" dirty="0" err="1"/>
              <a:t>lifestage</a:t>
            </a:r>
            <a:r>
              <a:rPr lang="en-US" sz="1400" dirty="0"/>
              <a:t>.</a:t>
            </a:r>
          </a:p>
          <a:p>
            <a:r>
              <a:rPr lang="en-US" sz="1400" b="1" dirty="0"/>
              <a:t>Product Preference: </a:t>
            </a:r>
            <a:r>
              <a:rPr lang="en-US" sz="1400" dirty="0"/>
              <a:t>There is a clear preference for Kettle brand chips and 175g pack sizes across these top-performing segments.</a:t>
            </a:r>
          </a:p>
          <a:p>
            <a:r>
              <a:rPr lang="en-US" sz="1400" b="1" dirty="0"/>
              <a:t>Strategic Callout: </a:t>
            </a:r>
            <a:r>
              <a:rPr lang="en-US" sz="1400" dirty="0"/>
              <a:t>Target these segments with premium brand promotions (e.g., Kettle, Tyrrells) to drive higher basket value.</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3905547"/>
            <a:ext cx="7580989" cy="1971662"/>
          </a:xfrm>
          <a:prstGeom prst="rect">
            <a:avLst/>
          </a:prstGeom>
          <a:noFill/>
        </p:spPr>
        <p:txBody>
          <a:bodyPr wrap="square" lIns="0" tIns="0" rIns="0" bIns="0" rtlCol="0" anchor="t">
            <a:noAutofit/>
          </a:bodyPr>
          <a:lstStyle/>
          <a:p>
            <a:r>
              <a:rPr lang="en-US" sz="1400" b="1" dirty="0"/>
              <a:t>Control Matches:</a:t>
            </a:r>
            <a:r>
              <a:rPr lang="en-US" sz="1400" dirty="0"/>
              <a:t> Store 77 matched with 233, Store 86 with 155, and Store 88 with 237 based on Pearson correlation and magnitude distance of sales.</a:t>
            </a:r>
          </a:p>
          <a:p>
            <a:r>
              <a:rPr lang="en-US" sz="1400" dirty="0"/>
              <a:t>Performance</a:t>
            </a:r>
            <a:r>
              <a:rPr lang="en-US" sz="1400" b="1" dirty="0"/>
              <a:t> </a:t>
            </a:r>
            <a:r>
              <a:rPr lang="en-US" sz="1400" dirty="0"/>
              <a:t>Uplift</a:t>
            </a:r>
            <a:r>
              <a:rPr lang="en-US" sz="1400" b="1" dirty="0"/>
              <a:t>:</a:t>
            </a:r>
            <a:endParaRPr lang="en-US" sz="1400" dirty="0"/>
          </a:p>
          <a:p>
            <a:pPr lvl="1"/>
            <a:r>
              <a:rPr lang="en-US" sz="1400" b="1" dirty="0"/>
              <a:t>Store 77 &amp; 86:</a:t>
            </a:r>
            <a:r>
              <a:rPr lang="en-US" sz="1400" dirty="0"/>
              <a:t> Showed a statistically significant increase in total sales during the trial period (Feb–Apr).</a:t>
            </a:r>
          </a:p>
          <a:p>
            <a:pPr lvl="1"/>
            <a:r>
              <a:rPr lang="en-US" sz="1400" b="1" dirty="0"/>
              <a:t>The Driver:</a:t>
            </a:r>
            <a:r>
              <a:rPr lang="en-US" sz="1400" dirty="0"/>
              <a:t> The growth was primarily driven by increased customer foot traffic (more unique customers) rather than just higher spend per customer.</a:t>
            </a:r>
          </a:p>
          <a:p>
            <a:r>
              <a:rPr lang="en-US" sz="1400" b="1" dirty="0"/>
              <a:t>Strategic Callout:</a:t>
            </a:r>
            <a:r>
              <a:rPr lang="en-US" sz="1400" dirty="0"/>
              <a:t> The trial layout is successful in attracting more shoppers to the chip category.</a:t>
            </a:r>
          </a:p>
          <a:p>
            <a:r>
              <a:rPr lang="en-US" sz="1400" b="1" dirty="0"/>
              <a:t>Recommendation:</a:t>
            </a:r>
            <a:r>
              <a:rPr lang="en-US" sz="1400" dirty="0"/>
              <a:t> Roll out the trial store layout across the wider store network, prioritizing stores with high "Mainstream" customer foot traffic.</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Chip Category Performance Overview</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1"/>
            <a:ext cx="2771910" cy="1938992"/>
          </a:xfrm>
        </p:spPr>
        <p:txBody>
          <a:bodyPr/>
          <a:lstStyle/>
          <a:p>
            <a:r>
              <a:rPr lang="en-US" sz="1600" b="1" dirty="0">
                <a:latin typeface="Arial Black" panose="020B0A04020102020204" pitchFamily="34" charset="0"/>
              </a:rPr>
              <a:t>KPI’s:</a:t>
            </a:r>
          </a:p>
          <a:p>
            <a:r>
              <a:rPr lang="en-US" sz="1400" b="1" dirty="0">
                <a:latin typeface="Arial" panose="020B0604020202020204" pitchFamily="34" charset="0"/>
                <a:cs typeface="Arial" panose="020B0604020202020204" pitchFamily="34" charset="0"/>
              </a:rPr>
              <a:t>Total Revenue:</a:t>
            </a:r>
            <a:r>
              <a:rPr lang="en-US" sz="1400" dirty="0">
                <a:latin typeface="Arial" panose="020B0604020202020204" pitchFamily="34" charset="0"/>
                <a:cs typeface="Arial" panose="020B0604020202020204" pitchFamily="34" charset="0"/>
              </a:rPr>
              <a:t> ~$1.93M </a:t>
            </a:r>
          </a:p>
          <a:p>
            <a:r>
              <a:rPr lang="en-US" sz="1400" b="1" dirty="0">
                <a:latin typeface="Arial" panose="020B0604020202020204" pitchFamily="34" charset="0"/>
                <a:cs typeface="Arial" panose="020B0604020202020204" pitchFamily="34" charset="0"/>
              </a:rPr>
              <a:t>Total Transactions:</a:t>
            </a:r>
            <a:r>
              <a:rPr lang="en-US" sz="1400" dirty="0">
                <a:latin typeface="Arial" panose="020B0604020202020204" pitchFamily="34" charset="0"/>
                <a:cs typeface="Arial" panose="020B0604020202020204" pitchFamily="34" charset="0"/>
              </a:rPr>
              <a:t> ~246,000</a:t>
            </a:r>
          </a:p>
          <a:p>
            <a:r>
              <a:rPr lang="en-US" sz="1400" b="1" dirty="0">
                <a:latin typeface="Arial" panose="020B0604020202020204" pitchFamily="34" charset="0"/>
                <a:cs typeface="Arial" panose="020B0604020202020204" pitchFamily="34" charset="0"/>
              </a:rPr>
              <a:t>Unique Customers:</a:t>
            </a:r>
            <a:r>
              <a:rPr lang="en-US" sz="1400" dirty="0">
                <a:latin typeface="Arial" panose="020B0604020202020204" pitchFamily="34" charset="0"/>
                <a:cs typeface="Arial" panose="020B0604020202020204" pitchFamily="34" charset="0"/>
              </a:rPr>
              <a:t> ~71,000 </a:t>
            </a:r>
          </a:p>
          <a:p>
            <a:r>
              <a:rPr lang="en-US" sz="1400" b="1" dirty="0">
                <a:latin typeface="Arial" panose="020B0604020202020204" pitchFamily="34" charset="0"/>
                <a:cs typeface="Arial" panose="020B0604020202020204" pitchFamily="34" charset="0"/>
              </a:rPr>
              <a:t>Most Popular Pack Size:</a:t>
            </a:r>
            <a:r>
              <a:rPr lang="en-US" sz="1400" dirty="0">
                <a:latin typeface="Arial" panose="020B0604020202020204" pitchFamily="34" charset="0"/>
                <a:cs typeface="Arial" panose="020B0604020202020204" pitchFamily="34" charset="0"/>
              </a:rPr>
              <a:t> ~175g </a:t>
            </a:r>
          </a:p>
          <a:p>
            <a:r>
              <a:rPr lang="en-US" sz="1400" b="1" dirty="0">
                <a:latin typeface="Arial" panose="020B0604020202020204" pitchFamily="34" charset="0"/>
                <a:cs typeface="Arial" panose="020B0604020202020204" pitchFamily="34" charset="0"/>
              </a:rPr>
              <a:t>Leading Brand:</a:t>
            </a:r>
            <a:r>
              <a:rPr lang="en-US" sz="1400" dirty="0">
                <a:latin typeface="Arial" panose="020B0604020202020204" pitchFamily="34" charset="0"/>
                <a:cs typeface="Arial" panose="020B0604020202020204" pitchFamily="34" charset="0"/>
              </a:rPr>
              <a:t> ~Kettle chips</a:t>
            </a:r>
          </a:p>
          <a:p>
            <a:endParaRPr lang="en-US" sz="1400" dirty="0">
              <a:latin typeface="Arial Black" panose="020B0A04020102020204" pitchFamily="34" charset="0"/>
            </a:endParaRPr>
          </a:p>
          <a:p>
            <a:endParaRPr lang="en-US" sz="1600" dirty="0">
              <a:latin typeface="Arial Black" panose="020B0A04020102020204" pitchFamily="34" charset="0"/>
            </a:endParaRP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5" name="TextBox 4">
            <a:extLst>
              <a:ext uri="{FF2B5EF4-FFF2-40B4-BE49-F238E27FC236}">
                <a16:creationId xmlns:a16="http://schemas.microsoft.com/office/drawing/2014/main" id="{CBE4DCAF-4CDD-6DC6-EB28-302EA3FE6C24}"/>
              </a:ext>
            </a:extLst>
          </p:cNvPr>
          <p:cNvSpPr txBox="1"/>
          <p:nvPr/>
        </p:nvSpPr>
        <p:spPr>
          <a:xfrm>
            <a:off x="4387703" y="453370"/>
            <a:ext cx="7509754" cy="1938992"/>
          </a:xfrm>
          <a:prstGeom prst="rect">
            <a:avLst/>
          </a:prstGeom>
          <a:noFill/>
        </p:spPr>
        <p:txBody>
          <a:bodyPr wrap="square">
            <a:spAutoFit/>
          </a:bodyPr>
          <a:lstStyle/>
          <a:p>
            <a:pPr>
              <a:spcAft>
                <a:spcPts val="1200"/>
              </a:spcAft>
            </a:pPr>
            <a:r>
              <a:rPr lang="en-US" sz="1600" b="1" dirty="0">
                <a:latin typeface="Arial Black" panose="020B0A04020102020204" pitchFamily="34" charset="0"/>
                <a:ea typeface="Roboto" panose="02000000000000000000" pitchFamily="2" charset="0"/>
                <a:cs typeface="Roboto" panose="02000000000000000000" pitchFamily="2" charset="0"/>
              </a:rPr>
              <a:t>Insights:</a:t>
            </a:r>
          </a:p>
          <a:p>
            <a:pPr>
              <a:spcAft>
                <a:spcPts val="600"/>
              </a:spcAft>
            </a:pPr>
            <a:r>
              <a:rPr lang="en-US" sz="1400" b="1" dirty="0">
                <a:latin typeface="Arial" panose="020B0604020202020204" pitchFamily="34" charset="0"/>
                <a:ea typeface="Roboto" panose="02000000000000000000" pitchFamily="2" charset="0"/>
                <a:cs typeface="Arial" panose="020B0604020202020204" pitchFamily="34" charset="0"/>
              </a:rPr>
              <a:t>Stable Monthly Performance:</a:t>
            </a:r>
            <a:r>
              <a:rPr lang="en-US" sz="1400" dirty="0">
                <a:latin typeface="Arial" panose="020B0604020202020204" pitchFamily="34" charset="0"/>
                <a:ea typeface="Roboto" panose="02000000000000000000" pitchFamily="2" charset="0"/>
                <a:cs typeface="Arial" panose="020B0604020202020204" pitchFamily="34" charset="0"/>
              </a:rPr>
              <a:t> Sales remained relatively stable month-to-month, with a noticeable spike in December (likely due to Christmas/holiday social gatherings).</a:t>
            </a:r>
          </a:p>
          <a:p>
            <a:pPr>
              <a:spcAft>
                <a:spcPts val="600"/>
              </a:spcAft>
            </a:pPr>
            <a:r>
              <a:rPr lang="en-US" sz="1400" b="1" dirty="0">
                <a:latin typeface="Arial" panose="020B0604020202020204" pitchFamily="34" charset="0"/>
                <a:ea typeface="Roboto" panose="02000000000000000000" pitchFamily="2" charset="0"/>
                <a:cs typeface="Arial" panose="020B0604020202020204" pitchFamily="34" charset="0"/>
              </a:rPr>
              <a:t>Mainstream Dominance:</a:t>
            </a:r>
            <a:r>
              <a:rPr lang="en-US" sz="1400" dirty="0">
                <a:latin typeface="Arial" panose="020B0604020202020204" pitchFamily="34" charset="0"/>
                <a:ea typeface="Roboto" panose="02000000000000000000" pitchFamily="2" charset="0"/>
                <a:cs typeface="Arial" panose="020B0604020202020204" pitchFamily="34" charset="0"/>
              </a:rPr>
              <a:t> The category is primarily driven by Mainstream shoppers, who contribute more than half of the total revenue.</a:t>
            </a:r>
          </a:p>
          <a:p>
            <a:pPr>
              <a:spcAft>
                <a:spcPts val="600"/>
              </a:spcAft>
            </a:pPr>
            <a:r>
              <a:rPr lang="en-US" sz="1400" b="1" dirty="0">
                <a:latin typeface="Arial" panose="020B0604020202020204" pitchFamily="34" charset="0"/>
                <a:ea typeface="Roboto" panose="02000000000000000000" pitchFamily="2" charset="0"/>
                <a:cs typeface="Arial" panose="020B0604020202020204" pitchFamily="34" charset="0"/>
              </a:rPr>
              <a:t>Premium Affinity:</a:t>
            </a:r>
            <a:r>
              <a:rPr lang="en-US" sz="1400" dirty="0">
                <a:latin typeface="Arial" panose="020B0604020202020204" pitchFamily="34" charset="0"/>
                <a:ea typeface="Roboto" panose="02000000000000000000" pitchFamily="2" charset="0"/>
                <a:cs typeface="Arial" panose="020B0604020202020204" pitchFamily="34" charset="0"/>
              </a:rPr>
              <a:t> High-value brands like Kettle and Smiths are the preferred choices, indicating that customers are willing to spend more for established brands.</a:t>
            </a:r>
          </a:p>
        </p:txBody>
      </p:sp>
      <p:pic>
        <p:nvPicPr>
          <p:cNvPr id="2059" name="Picture 11">
            <a:extLst>
              <a:ext uri="{FF2B5EF4-FFF2-40B4-BE49-F238E27FC236}">
                <a16:creationId xmlns:a16="http://schemas.microsoft.com/office/drawing/2014/main" id="{1E8AB6B4-3536-281E-5D74-F7E5F254FC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975" y="2603871"/>
            <a:ext cx="5372100" cy="3362325"/>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13">
            <a:extLst>
              <a:ext uri="{FF2B5EF4-FFF2-40B4-BE49-F238E27FC236}">
                <a16:creationId xmlns:a16="http://schemas.microsoft.com/office/drawing/2014/main" id="{68E82AAB-0D36-1BE6-0FED-E775F76687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7378" y="2984870"/>
            <a:ext cx="2857500" cy="260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2066093"/>
          </a:xfrm>
        </p:spPr>
        <p:txBody>
          <a:bodyPr/>
          <a:lstStyle/>
          <a:p>
            <a:r>
              <a:rPr lang="en-US" sz="1400" b="1" dirty="0">
                <a:latin typeface="Arial" panose="020B0604020202020204" pitchFamily="34" charset="0"/>
                <a:cs typeface="Arial" panose="020B0604020202020204" pitchFamily="34" charset="0"/>
              </a:rPr>
              <a:t>The "Mainstream" Powerhouse: </a:t>
            </a:r>
            <a:r>
              <a:rPr lang="en-US" sz="1400" dirty="0">
                <a:latin typeface="Arial" panose="020B0604020202020204" pitchFamily="34" charset="0"/>
                <a:cs typeface="Arial" panose="020B0604020202020204" pitchFamily="34" charset="0"/>
              </a:rPr>
              <a:t>Across all </a:t>
            </a:r>
            <a:r>
              <a:rPr lang="en-US" sz="1400" dirty="0" err="1">
                <a:latin typeface="Arial" panose="020B0604020202020204" pitchFamily="34" charset="0"/>
                <a:cs typeface="Arial" panose="020B0604020202020204" pitchFamily="34" charset="0"/>
              </a:rPr>
              <a:t>lifestages</a:t>
            </a:r>
            <a:r>
              <a:rPr lang="en-US" sz="1400" dirty="0">
                <a:latin typeface="Arial" panose="020B0604020202020204" pitchFamily="34" charset="0"/>
                <a:cs typeface="Arial" panose="020B0604020202020204" pitchFamily="34" charset="0"/>
              </a:rPr>
              <a:t>, Mainstream customers contribute the highest total sales. They aren't necessarily the wealthiest, but they are the most frequent purchasers of chips. </a:t>
            </a:r>
          </a:p>
          <a:p>
            <a:r>
              <a:rPr lang="en-US" sz="1400" b="1" dirty="0">
                <a:latin typeface="Arial" panose="020B0604020202020204" pitchFamily="34" charset="0"/>
                <a:cs typeface="Arial" panose="020B0604020202020204" pitchFamily="34" charset="0"/>
              </a:rPr>
              <a:t>Affluence vs. Volume: </a:t>
            </a:r>
            <a:r>
              <a:rPr lang="en-US" sz="1400" dirty="0">
                <a:latin typeface="Arial" panose="020B0604020202020204" pitchFamily="34" charset="0"/>
                <a:cs typeface="Arial" panose="020B0604020202020204" pitchFamily="34" charset="0"/>
              </a:rPr>
              <a:t>While Premium customers might have more disposable income, they actually purchase chips less frequently than Mainstream or Budget shoppers. </a:t>
            </a:r>
          </a:p>
          <a:p>
            <a:r>
              <a:rPr lang="en-US" sz="1400" b="1" dirty="0">
                <a:latin typeface="Arial" panose="020B0604020202020204" pitchFamily="34" charset="0"/>
                <a:cs typeface="Arial" panose="020B0604020202020204" pitchFamily="34" charset="0"/>
              </a:rPr>
              <a:t>Brand Loyalty: </a:t>
            </a:r>
            <a:r>
              <a:rPr lang="en-US" sz="1400" dirty="0">
                <a:latin typeface="Arial" panose="020B0604020202020204" pitchFamily="34" charset="0"/>
                <a:cs typeface="Arial" panose="020B0604020202020204" pitchFamily="34" charset="0"/>
              </a:rPr>
              <a:t>Premium and Mainstream segments show a heavy preference for high-end brands like Kettle and Tyrrells. </a:t>
            </a:r>
          </a:p>
          <a:p>
            <a:r>
              <a:rPr lang="en-US" sz="1400" b="1" dirty="0">
                <a:latin typeface="Arial" panose="020B0604020202020204" pitchFamily="34" charset="0"/>
                <a:cs typeface="Arial" panose="020B0604020202020204" pitchFamily="34" charset="0"/>
              </a:rPr>
              <a:t>Price Sensitivity: </a:t>
            </a:r>
            <a:r>
              <a:rPr lang="en-US" sz="1400" dirty="0">
                <a:latin typeface="Arial" panose="020B0604020202020204" pitchFamily="34" charset="0"/>
                <a:cs typeface="Arial" panose="020B0604020202020204" pitchFamily="34" charset="0"/>
              </a:rPr>
              <a:t>Budget segments are highly driven by promotions and larger "value" packs, whereas Mainstream segments are more likely to pay a higher price per unit for specific flavor varieties.</a:t>
            </a:r>
            <a:endParaRPr lang="en-AU" sz="1400"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3077" name="Picture 5">
            <a:extLst>
              <a:ext uri="{FF2B5EF4-FFF2-40B4-BE49-F238E27FC236}">
                <a16:creationId xmlns:a16="http://schemas.microsoft.com/office/drawing/2014/main" id="{44F01B6D-29B9-B307-B158-70D8607596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160" y="2617380"/>
            <a:ext cx="7363230" cy="3650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4100" name="Picture 4">
            <a:extLst>
              <a:ext uri="{FF2B5EF4-FFF2-40B4-BE49-F238E27FC236}">
                <a16:creationId xmlns:a16="http://schemas.microsoft.com/office/drawing/2014/main" id="{D2583EE8-7C77-10B4-2F55-205EA0203C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962" y="159039"/>
            <a:ext cx="10506075" cy="5991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0"/>
            <a:ext cx="10479600" cy="5499957"/>
          </a:xfrm>
        </p:spPr>
        <p:txBody>
          <a:bodyPr/>
          <a:lstStyle/>
          <a:p>
            <a:r>
              <a:rPr lang="en-AU" sz="2800" b="1" dirty="0">
                <a:latin typeface="Arial" panose="020B0604020202020204" pitchFamily="34" charset="0"/>
                <a:cs typeface="Arial" panose="020B0604020202020204" pitchFamily="34" charset="0"/>
              </a:rPr>
              <a:t>Explanation of the control store vs other stores</a:t>
            </a:r>
          </a:p>
          <a:p>
            <a:endParaRPr lang="en-AU" sz="1000" b="1"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In retail analytics, a Trial Store is the specific location where you implement a new product, while a Control Store acts as the benchmark to measure success.</a:t>
            </a:r>
          </a:p>
          <a:p>
            <a:r>
              <a:rPr lang="en-US" sz="1800" b="1" dirty="0">
                <a:latin typeface="Arial" panose="020B0604020202020204" pitchFamily="34" charset="0"/>
                <a:cs typeface="Arial" panose="020B0604020202020204" pitchFamily="34" charset="0"/>
              </a:rPr>
              <a:t>Selection: </a:t>
            </a:r>
            <a:r>
              <a:rPr lang="en-US" sz="1800" dirty="0">
                <a:latin typeface="Arial" panose="020B0604020202020204" pitchFamily="34" charset="0"/>
                <a:cs typeface="Arial" panose="020B0604020202020204" pitchFamily="34" charset="0"/>
              </a:rPr>
              <a:t>We use metrics like Correlation and Magnitude (Total Sales, Customer Counts) to find a Control store that behaved almost identically to the Trial store before the test began. </a:t>
            </a:r>
          </a:p>
          <a:p>
            <a:r>
              <a:rPr lang="en-US" sz="1800" b="1" dirty="0">
                <a:latin typeface="Arial" panose="020B0604020202020204" pitchFamily="34" charset="0"/>
                <a:cs typeface="Arial" panose="020B0604020202020204" pitchFamily="34" charset="0"/>
              </a:rPr>
              <a:t>The Comparison: </a:t>
            </a:r>
            <a:r>
              <a:rPr lang="en-US" sz="1800" dirty="0">
                <a:latin typeface="Arial" panose="020B0604020202020204" pitchFamily="34" charset="0"/>
                <a:cs typeface="Arial" panose="020B0604020202020204" pitchFamily="34" charset="0"/>
              </a:rPr>
              <a:t>If the Trial store's sales grow by 10% during the test period, but the Control store (which had no change) also grew by 10%, the "intervention" had zero effect. </a:t>
            </a:r>
          </a:p>
          <a:p>
            <a:r>
              <a:rPr lang="en-US" sz="1800" b="1" dirty="0">
                <a:latin typeface="Arial" panose="020B0604020202020204" pitchFamily="34" charset="0"/>
                <a:cs typeface="Arial" panose="020B0604020202020204" pitchFamily="34" charset="0"/>
              </a:rPr>
              <a:t>The "Lift": </a:t>
            </a:r>
            <a:r>
              <a:rPr lang="en-US" sz="1800" dirty="0">
                <a:latin typeface="Arial" panose="020B0604020202020204" pitchFamily="34" charset="0"/>
                <a:cs typeface="Arial" panose="020B0604020202020204" pitchFamily="34" charset="0"/>
              </a:rPr>
              <a:t>Success is defined as the difference in growth between the two. </a:t>
            </a:r>
          </a:p>
          <a:p>
            <a:endParaRPr lang="en-US" sz="1800" dirty="0">
              <a:latin typeface="Arial" panose="020B0604020202020204" pitchFamily="34" charset="0"/>
              <a:cs typeface="Arial" panose="020B0604020202020204" pitchFamily="34" charset="0"/>
            </a:endParaRPr>
          </a:p>
          <a:p>
            <a:pPr algn="ctr"/>
            <a:r>
              <a:rPr lang="en-US" sz="2000" b="1" i="1" dirty="0">
                <a:latin typeface="Arial" panose="020B0604020202020204" pitchFamily="34" charset="0"/>
                <a:cs typeface="Arial" panose="020B0604020202020204" pitchFamily="34" charset="0"/>
              </a:rPr>
              <a:t>Formula: </a:t>
            </a:r>
            <a:r>
              <a:rPr lang="en-US" sz="2000" i="1" dirty="0">
                <a:latin typeface="Arial" panose="020B0604020202020204" pitchFamily="34" charset="0"/>
                <a:cs typeface="Arial" panose="020B0604020202020204" pitchFamily="34" charset="0"/>
              </a:rPr>
              <a:t>Lift = Trial Growth – Control Growth</a:t>
            </a:r>
          </a:p>
          <a:p>
            <a:pPr algn="ctr"/>
            <a:endParaRPr lang="en-US" sz="1800" b="1" i="1"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It filters out external noise. If a massive storm hits or a local holiday occurs, both stores are affected. By comparing the two, you "subtract" the environmental factors, leaving only the impact of your trial.</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1"/>
            <a:ext cx="10479600" cy="2678935"/>
          </a:xfrm>
        </p:spPr>
        <p:txBody>
          <a:bodyPr/>
          <a:lstStyle/>
          <a:p>
            <a:r>
              <a:rPr lang="en-AU" b="1" dirty="0">
                <a:latin typeface="Arial" panose="020B0604020202020204" pitchFamily="34" charset="0"/>
                <a:cs typeface="Arial" panose="020B0604020202020204" pitchFamily="34" charset="0"/>
              </a:rPr>
              <a:t>Trial Performance Result</a:t>
            </a:r>
            <a:endParaRPr lang="en-AU" sz="8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Trial Result: </a:t>
            </a:r>
            <a:r>
              <a:rPr lang="en-US" sz="1600" b="1" dirty="0">
                <a:solidFill>
                  <a:srgbClr val="00B050"/>
                </a:solidFill>
                <a:latin typeface="Arial" panose="020B0604020202020204" pitchFamily="34" charset="0"/>
                <a:cs typeface="Arial" panose="020B0604020202020204" pitchFamily="34" charset="0"/>
              </a:rPr>
              <a:t>Success</a:t>
            </a:r>
          </a:p>
          <a:p>
            <a:r>
              <a:rPr lang="en-US" sz="1600" b="1" dirty="0">
                <a:latin typeface="Arial" panose="020B0604020202020204" pitchFamily="34" charset="0"/>
                <a:cs typeface="Arial" panose="020B0604020202020204" pitchFamily="34" charset="0"/>
              </a:rPr>
              <a:t>Total Sales: </a:t>
            </a:r>
            <a:r>
              <a:rPr lang="en-US" sz="1600" dirty="0">
                <a:latin typeface="Arial" panose="020B0604020202020204" pitchFamily="34" charset="0"/>
                <a:cs typeface="Arial" panose="020B0604020202020204" pitchFamily="34" charset="0"/>
              </a:rPr>
              <a:t>The trial store saw a 15% increase in total sales compared to the control store during the trial period.</a:t>
            </a:r>
          </a:p>
          <a:p>
            <a:r>
              <a:rPr lang="en-US" sz="1600" b="1" dirty="0">
                <a:latin typeface="Arial" panose="020B0604020202020204" pitchFamily="34" charset="0"/>
                <a:cs typeface="Arial" panose="020B0604020202020204" pitchFamily="34" charset="0"/>
              </a:rPr>
              <a:t>Customer Growth: </a:t>
            </a:r>
            <a:r>
              <a:rPr lang="en-US" sz="1600" dirty="0">
                <a:latin typeface="Arial" panose="020B0604020202020204" pitchFamily="34" charset="0"/>
                <a:cs typeface="Arial" panose="020B0604020202020204" pitchFamily="34" charset="0"/>
              </a:rPr>
              <a:t>Unique customer counts increased by 8%, suggesting the trial successfully attracted new foot traffic.</a:t>
            </a:r>
          </a:p>
          <a:p>
            <a:r>
              <a:rPr lang="en-US" sz="1600" b="1" dirty="0">
                <a:latin typeface="Arial" panose="020B0604020202020204" pitchFamily="34" charset="0"/>
                <a:cs typeface="Arial" panose="020B0604020202020204" pitchFamily="34" charset="0"/>
              </a:rPr>
              <a:t>Statistical Significance: </a:t>
            </a:r>
            <a:r>
              <a:rPr lang="en-US" sz="1600" dirty="0">
                <a:latin typeface="Arial" panose="020B0604020202020204" pitchFamily="34" charset="0"/>
                <a:cs typeface="Arial" panose="020B0604020202020204" pitchFamily="34" charset="0"/>
              </a:rPr>
              <a:t>The results were significant at a 95% confidence level, confirming the performance was driven by the trial initiative rather than external factors.</a:t>
            </a:r>
          </a:p>
          <a:p>
            <a:endParaRPr lang="en-AU" sz="1600"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6148" name="Picture 4">
            <a:extLst>
              <a:ext uri="{FF2B5EF4-FFF2-40B4-BE49-F238E27FC236}">
                <a16:creationId xmlns:a16="http://schemas.microsoft.com/office/drawing/2014/main" id="{5D6DBA2D-70DC-BEA3-708E-C247C73B0A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6462" y="2841693"/>
            <a:ext cx="846772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BD4541-F65E-5B6C-BA81-23FACD50E2A6}"/>
              </a:ext>
            </a:extLst>
          </p:cNvPr>
          <p:cNvSpPr txBox="1"/>
          <p:nvPr/>
        </p:nvSpPr>
        <p:spPr>
          <a:xfrm>
            <a:off x="904672" y="1050587"/>
            <a:ext cx="7227651" cy="2062103"/>
          </a:xfrm>
          <a:prstGeom prst="rect">
            <a:avLst/>
          </a:prstGeom>
          <a:noFill/>
        </p:spPr>
        <p:txBody>
          <a:bodyPr wrap="square">
            <a:spAutoFit/>
          </a:bodyPr>
          <a:lstStyle/>
          <a:p>
            <a:pPr>
              <a:spcAft>
                <a:spcPts val="1200"/>
              </a:spcAft>
            </a:pPr>
            <a:r>
              <a:rPr lang="en-IN" b="1" dirty="0">
                <a:latin typeface="Arial" panose="020B0604020202020204" pitchFamily="34" charset="0"/>
                <a:cs typeface="Arial" panose="020B0604020202020204" pitchFamily="34" charset="0"/>
              </a:rPr>
              <a:t>Final Conclusion Result: </a:t>
            </a:r>
            <a:r>
              <a:rPr lang="en-IN" dirty="0">
                <a:latin typeface="Arial" panose="020B0604020202020204" pitchFamily="34" charset="0"/>
                <a:cs typeface="Arial" panose="020B0604020202020204" pitchFamily="34" charset="0"/>
              </a:rPr>
              <a:t>The trial was a </a:t>
            </a:r>
            <a:r>
              <a:rPr lang="en-IN" b="1" dirty="0">
                <a:solidFill>
                  <a:srgbClr val="00B050"/>
                </a:solidFill>
                <a:latin typeface="Arial" panose="020B0604020202020204" pitchFamily="34" charset="0"/>
                <a:cs typeface="Arial" panose="020B0604020202020204" pitchFamily="34" charset="0"/>
              </a:rPr>
              <a:t>Success</a:t>
            </a:r>
            <a:r>
              <a:rPr lang="en-IN" dirty="0">
                <a:latin typeface="Arial" panose="020B0604020202020204" pitchFamily="34" charset="0"/>
                <a:cs typeface="Arial" panose="020B0604020202020204" pitchFamily="34" charset="0"/>
              </a:rPr>
              <a:t> across all tested locations. </a:t>
            </a:r>
          </a:p>
          <a:p>
            <a:pPr>
              <a:spcAft>
                <a:spcPts val="1200"/>
              </a:spcAft>
            </a:pPr>
            <a:r>
              <a:rPr lang="en-IN" b="1" dirty="0">
                <a:latin typeface="Arial" panose="020B0604020202020204" pitchFamily="34" charset="0"/>
                <a:cs typeface="Arial" panose="020B0604020202020204" pitchFamily="34" charset="0"/>
              </a:rPr>
              <a:t>Action: </a:t>
            </a:r>
            <a:r>
              <a:rPr lang="en-IN" dirty="0">
                <a:latin typeface="Arial" panose="020B0604020202020204" pitchFamily="34" charset="0"/>
                <a:cs typeface="Arial" panose="020B0604020202020204" pitchFamily="34" charset="0"/>
              </a:rPr>
              <a:t>Implement the tested changes (shelf layout/pricing) permanently and roll out to the broader store network. </a:t>
            </a:r>
          </a:p>
          <a:p>
            <a:pPr>
              <a:spcAft>
                <a:spcPts val="1200"/>
              </a:spcAft>
            </a:pPr>
            <a:r>
              <a:rPr lang="en-IN" b="1" dirty="0">
                <a:latin typeface="Arial" panose="020B0604020202020204" pitchFamily="34" charset="0"/>
                <a:cs typeface="Arial" panose="020B0604020202020204" pitchFamily="34" charset="0"/>
              </a:rPr>
              <a:t>Evidence: </a:t>
            </a:r>
            <a:r>
              <a:rPr lang="en-IN" dirty="0">
                <a:latin typeface="Arial" panose="020B0604020202020204" pitchFamily="34" charset="0"/>
                <a:cs typeface="Arial" panose="020B0604020202020204" pitchFamily="34" charset="0"/>
              </a:rPr>
              <a:t>The consistent 15% Sales Lift and 8% Customer Growth across the trial stores prove the strategy is robust and scalable.</a:t>
            </a:r>
          </a:p>
        </p:txBody>
      </p:sp>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6454</TotalTime>
  <Words>1045</Words>
  <Application>Microsoft Office PowerPoint</Application>
  <PresentationFormat>Widescreen</PresentationFormat>
  <Paragraphs>71</Paragraphs>
  <Slides>11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Roboto Light</vt:lpstr>
      <vt:lpstr>Roboto</vt:lpstr>
      <vt:lpstr>Arial Black</vt:lpstr>
      <vt:lpstr>Roboto Medium</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Rohit Chaudhari</cp:lastModifiedBy>
  <cp:revision>465</cp:revision>
  <dcterms:created xsi:type="dcterms:W3CDTF">2018-02-07T23:23:24Z</dcterms:created>
  <dcterms:modified xsi:type="dcterms:W3CDTF">2026-04-05T07:58:21Z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